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testnet execution is separate from proposed Circle Wallets, Gas Station and CCTP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Receipt: https://testnet.arcscan.app/tx/0xee7bc19a990ce6691a68e9b387585baee13edc846cbf3a43551ab3dd7cfcda6c</a:t>
            </a:r>
          </a:p>
          <a:p>
            <a:r>
              <a:t>Demo: https://youtu.be/12hvXfd5rsE</a:t>
            </a:r>
          </a:p>
          <a:p>
            <a:r>
              <a:t>Receipt details recovered from existing testing records. Explorer API returned HTTP 403 during this refresh; do not claim fresh receipt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https://chakra-api-0a5i.onrender.com/api/v1/stats?range=all</a:t>
            </a:r>
          </a:p>
          <a:p>
            <a:r>
              <a:t>Saved: docs/evidence/grant-testnet/stats-2026-09-30.json</a:t>
            </a:r>
          </a:p>
          <a:p>
            <a:r>
              <a:t>freshness_secs=157662. Historical 5 September snapshot was 3 swaps / 3 USDC / 1 trader.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API contributor records verify MrSufferer contributions. Do not imply sole authorship, commercial adoption, partnerships or awards. https://github.com/mangekyou-labs/chakra https://github.com/mangekyou-labs/kamui https://github.com/mangekyou-labs/mgk-protocol https://github.com/mangekyou-labs/oreka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stnet.arcscan.app/tx/0xee7bc19a990ce6691a68e9b387585baee13edc846cbf3a43551ab3dd7cfcda6c" TargetMode="External"/><Relationship Id="rId3" Type="http://schemas.openxmlformats.org/officeDocument/2006/relationships/hyperlink" Target="https://youtu.be/12hvXfd5rsE" TargetMode="External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rSufferer" TargetMode="External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youtu.be/12hvXfd5rsE" TargetMode="External"/><Relationship Id="rId3" Type="http://schemas.openxmlformats.org/officeDocument/2006/relationships/hyperlink" Target="https://chakra-ag.vercel.app" TargetMode="External"/><Relationship Id="rId4" Type="http://schemas.openxmlformats.org/officeDocument/2006/relationships/hyperlink" Target="https://github.com/mangekyou-labs/chakr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STABLECOIN FX ON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6F3EE"/>
                </a:solidFill>
                <a:latin typeface="Arial"/>
              </a:defRPr>
            </a:pPr>
            <a:r>
              <a:t>Stablecoin swaps.</a:t>
            </a:r>
          </a:p>
          <a:p>
            <a:pPr>
              <a:spcAft>
                <a:spcPts val="1000"/>
              </a:spcAft>
              <a:defRPr sz="3800" b="1">
                <a:solidFill>
                  <a:srgbClr val="F6F3EE"/>
                </a:solidFill>
                <a:latin typeface="Arial"/>
              </a:defRPr>
            </a:pPr>
            <a:r>
              <a:t>One execution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8AFA6"/>
                </a:solidFill>
                <a:latin typeface="Arial"/>
              </a:defRPr>
            </a:pPr>
            <a:r>
              <a:t>USDC / EURC routing for wallets and payments apps.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4A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8AFA6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01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EC7A3A"/>
                </a:solidFill>
                <a:latin typeface="Arial"/>
              </a:defRPr>
            </a:pPr>
            <a:r>
              <a:t>Chakra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434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6F3EE"/>
                </a:solidFill>
                <a:latin typeface="Arial"/>
              </a:defRPr>
            </a:pPr>
            <a:r>
              <a:t>Compare supported venues. Build the transaction.</a:t>
            </a:r>
          </a:p>
          <a:p>
            <a:pPr>
              <a:spcAft>
                <a:spcPts val="1000"/>
              </a:spcAft>
              <a:defRPr sz="2300" b="0">
                <a:solidFill>
                  <a:srgbClr val="F6F3EE"/>
                </a:solidFill>
                <a:latin typeface="Arial"/>
              </a:defRPr>
            </a:pPr>
            <a:r>
              <a:t>The user authorizes in their wallet.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8AFA6"/>
                </a:solidFill>
                <a:latin typeface="Arial"/>
              </a:defRPr>
            </a:pPr>
            <a:r>
              <a:t>Open source  ·  Arc Testnet proof  ·  Proposed Circle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15100D"/>
                </a:solidFill>
                <a:latin typeface="Arial"/>
              </a:defRPr>
            </a:pPr>
            <a:r>
              <a:t>Every venue adds integration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5665B"/>
                </a:solidFill>
                <a:latin typeface="Arial"/>
              </a:defRPr>
            </a:pPr>
            <a:r>
              <a:t>A USDC/EURC swap spans liquidity selection, execution and wallet authorization.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5665B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02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01 / LIQUIDITY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Different pool math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Apps must compare supported venues and handle missing or thin routes.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02 /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Different interfaces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A quote must become executable calldata with approvals and a deadline.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03 / WALLET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Authorization + gas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Embedded wallets need a reliable payload and bounded sponsorship eligibility.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15100D"/>
                </a:solidFill>
                <a:latin typeface="Arial"/>
              </a:defRPr>
            </a:pPr>
            <a:r>
              <a:t>Quote → build → authorize → settle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5665B"/>
                </a:solidFill>
                <a:latin typeface="Arial"/>
              </a:defRPr>
            </a:pPr>
            <a:r>
              <a:t>One API and web app, with venue-aware routing and wallet-ready transaction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5665B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03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37560"/>
            <a:ext cx="2487168" cy="146304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3566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C7A3A"/>
                </a:solidFill>
                <a:latin typeface="Arial"/>
              </a:defRPr>
            </a:pPr>
            <a:r>
              <a:t>QUOTE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40690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5100D"/>
                </a:solidFill>
                <a:latin typeface="Arial"/>
              </a:defRPr>
            </a:pPr>
            <a:r>
              <a:t>Compare supported pools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3337560"/>
            <a:ext cx="2487168" cy="146304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3566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C7A3A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40690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5100D"/>
                </a:solidFill>
                <a:latin typeface="Arial"/>
              </a:defRPr>
            </a:pPr>
            <a:r>
              <a:t>Unsigned calldata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337560"/>
            <a:ext cx="2487168" cy="146304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566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C7A3A"/>
                </a:solidFill>
                <a:latin typeface="Arial"/>
              </a:defRPr>
            </a:pPr>
            <a:r>
              <a:t>AUTHORIZE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0690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5100D"/>
                </a:solidFill>
                <a:latin typeface="Arial"/>
              </a:defRPr>
            </a:pPr>
            <a:r>
              <a:t>User wallet 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39" y="3337560"/>
            <a:ext cx="2487168" cy="146304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1" y="3566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C7A3A"/>
                </a:solidFill>
                <a:latin typeface="Arial"/>
              </a:defRPr>
            </a:pPr>
            <a:r>
              <a:t>SETTLE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1" y="40690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5100D"/>
                </a:solidFill>
                <a:latin typeface="Arial"/>
              </a:defRPr>
            </a:pPr>
            <a:r>
              <a:t>Atomic on-chain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75665B"/>
                </a:solidFill>
                <a:latin typeface="Arial"/>
              </a:defRPr>
            </a:pPr>
            <a:r>
              <a:t>Factory-gated venues  /  Permit2 pull  /  Fail closed when no route exists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EXECUTED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6F3EE"/>
                </a:solidFill>
                <a:latin typeface="Arial"/>
              </a:defRPr>
            </a:pPr>
            <a:r>
              <a:t>1 USDC → 1.629188 EURC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8AFA6"/>
                </a:solidFill>
                <a:latin typeface="Arial"/>
              </a:defRPr>
            </a:pPr>
            <a:r>
              <a:t>Recorded Arc Testnet wallet execution · 5 September 2026 · Presto single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4A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8AFA6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04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EC7A3A"/>
                </a:solidFill>
                <a:latin typeface="Arial"/>
              </a:defRPr>
            </a:pPr>
            <a:r>
              <a:t>60563600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8AFA6"/>
                </a:solidFill>
                <a:latin typeface="Arial"/>
              </a:defRPr>
            </a:pPr>
            <a:r>
              <a:t>BLOCK / TESTNET CHAIN 5042002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3756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6F3EE"/>
                </a:solidFill>
                <a:latin typeface="Arial"/>
              </a:defRPr>
            </a:pPr>
            <a:r>
              <a:t>MetaMask authorization</a:t>
            </a:r>
          </a:p>
          <a:p>
            <a:pPr>
              <a:spcAft>
                <a:spcPts val="1000"/>
              </a:spcAft>
              <a:defRPr sz="2100" b="0">
                <a:solidFill>
                  <a:srgbClr val="F6F3EE"/>
                </a:solidFill>
                <a:latin typeface="Arial"/>
              </a:defRPr>
            </a:pPr>
            <a:r>
              <a:t>Successful splitSwap entry point</a:t>
            </a:r>
          </a:p>
          <a:p>
            <a:pPr>
              <a:spcAft>
                <a:spcPts val="1000"/>
              </a:spcAft>
              <a:defRPr sz="2100" b="0">
                <a:solidFill>
                  <a:srgbClr val="F6F3EE"/>
                </a:solidFill>
                <a:latin typeface="Arial"/>
              </a:defRPr>
            </a:pPr>
            <a:r>
              <a:t>Single route; no mined split claimed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66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C7A3A"/>
                </a:solidFill>
                <a:latin typeface="Arial"/>
              </a:defRPr>
            </a:pPr>
            <a:r>
              <a:rPr u="none">
                <a:solidFill>
                  <a:srgbClr val="EC7A3A"/>
                </a:solidFill>
                <a:hlinkClick r:id="rId2"/>
              </a:rPr>
              <a:t>Open transaction receipt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166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C7A3A"/>
                </a:solidFill>
                <a:latin typeface="Arial"/>
              </a:defRPr>
            </a:pPr>
            <a:r>
              <a:rPr u="none">
                <a:solidFill>
                  <a:srgbClr val="EC7A3A"/>
                </a:solidFill>
                <a:hlinkClick r:id="rId3"/>
              </a:rPr>
              <a:t>Open recorded demo 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ACTIVITY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15100D"/>
                </a:solidFill>
                <a:latin typeface="Arial"/>
              </a:defRPr>
            </a:pPr>
            <a:r>
              <a:t>Execution evidence before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5665B"/>
                </a:solidFill>
                <a:latin typeface="Arial"/>
              </a:defRPr>
            </a:pPr>
            <a:r>
              <a:t>Public stats API fetched 30 September 2026. Testnet activity does not establish customer acquisition.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5665B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05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3337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5100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C7A3A"/>
                </a:solidFill>
                <a:latin typeface="Arial"/>
              </a:defRPr>
            </a:pPr>
            <a:r>
              <a:t>INDEXED SWAPS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291840"/>
            <a:ext cx="3337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5100D"/>
                </a:solidFill>
                <a:latin typeface="Arial"/>
              </a:defRPr>
            </a:pPr>
            <a:r>
              <a:t>5 USDC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4251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C7A3A"/>
                </a:solidFill>
                <a:latin typeface="Arial"/>
              </a:defRPr>
            </a:pPr>
            <a:r>
              <a:t>NOTIONAL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3291840"/>
            <a:ext cx="3337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5100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4251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C7A3A"/>
                </a:solidFill>
                <a:latin typeface="Arial"/>
              </a:defRPr>
            </a:pPr>
            <a:r>
              <a:t>UNIQUE ADDRESSES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5665B"/>
                </a:solidFill>
                <a:latin typeface="Arial"/>
              </a:defRPr>
            </a:pPr>
            <a:r>
              <a:t>0 split swaps. Index freshness lag: about 44 hours.</a:t>
            </a:r>
          </a:p>
          <a:p>
            <a:pPr>
              <a:spcAft>
                <a:spcPts val="1000"/>
              </a:spcAft>
              <a:defRPr sz="1800" b="0">
                <a:solidFill>
                  <a:srgbClr val="75665B"/>
                </a:solidFill>
                <a:latin typeface="Arial"/>
              </a:defRPr>
            </a:pPr>
            <a:r>
              <a:t>No verified customer count, organic volume or revenue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FUNDING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15100D"/>
                </a:solidFill>
                <a:latin typeface="Arial"/>
              </a:defRPr>
            </a:pPr>
            <a:r>
              <a:t>A working router. A new Circle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5665B"/>
                </a:solidFill>
                <a:latin typeface="Arial"/>
              </a:defRPr>
            </a:pPr>
            <a:r>
              <a:t>The request funds incremental integration, verification and documentation.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5665B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06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EXISTING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Arc Testnet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Router, Solidity execution, quote/build API, SDK source and external-wallet receipt.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CIRCLE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Wallet + gas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New SCA adapter, mined smart-account swap, separate sponsored swap and CCTP handoff.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SELF-FUNDED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Mainnet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Mainnet deployment and external-wallet proof are prerequisites, excluded from this 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MILESTONE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15100D"/>
                </a:solidFill>
                <a:latin typeface="Arial"/>
              </a:defRPr>
            </a:pPr>
            <a:r>
              <a:t>Four jobs. Twenty sequential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5665B"/>
                </a:solidFill>
                <a:latin typeface="Arial"/>
              </a:defRPr>
            </a:pPr>
            <a:r>
              <a:t>24,000 USDC requested · one engineer · evidence required at every milestone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5665B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07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10881360" cy="13716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C7A3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172968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5100D"/>
                </a:solidFill>
                <a:latin typeface="Arial"/>
              </a:defRPr>
            </a:pPr>
            <a:r>
              <a:t>Circle SDK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520440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75665B"/>
                </a:solidFill>
                <a:latin typeface="Arial"/>
              </a:defRPr>
            </a:pPr>
            <a:r>
              <a:t>npm release, examples, authorization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209544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4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317296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5100D"/>
                </a:solidFill>
                <a:latin typeface="Arial"/>
              </a:defRPr>
            </a:pPr>
            <a:r>
              <a:t>4,800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76472"/>
            <a:ext cx="10881360" cy="13716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136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C7A3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88620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5100D"/>
                </a:solidFill>
                <a:latin typeface="Arial"/>
              </a:defRPr>
            </a:pPr>
            <a:r>
              <a:t>Circle SCA swap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23367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75665B"/>
                </a:solidFill>
                <a:latin typeface="Arial"/>
              </a:defRPr>
            </a:pPr>
            <a:r>
              <a:t>Mined Testnet swap + mainnet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92277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7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38862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5100D"/>
                </a:solidFill>
                <a:latin typeface="Arial"/>
              </a:defRPr>
            </a:pPr>
            <a:r>
              <a:t>8,400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89704"/>
            <a:ext cx="10881360" cy="13716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268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C7A3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599432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5100D"/>
                </a:solidFill>
                <a:latin typeface="Arial"/>
              </a:defRPr>
            </a:pPr>
            <a:r>
              <a:t>Gas Station sponsorship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946904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75665B"/>
                </a:solidFill>
                <a:latin typeface="Arial"/>
              </a:defRPr>
            </a:pPr>
            <a:r>
              <a:t>Separate mined swap + matching sponsorship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63600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4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459943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5100D"/>
                </a:solidFill>
                <a:latin typeface="Arial"/>
              </a:defRPr>
            </a:pPr>
            <a:r>
              <a:t>4,800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202936"/>
            <a:ext cx="10881360" cy="13716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400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C7A3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312664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5100D"/>
                </a:solidFill>
                <a:latin typeface="Arial"/>
              </a:defRPr>
            </a:pPr>
            <a:r>
              <a:t>CCTP V2 inbound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5660136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75665B"/>
                </a:solidFill>
                <a:latin typeface="Arial"/>
              </a:defRPr>
            </a:pPr>
            <a:r>
              <a:t>Burn/receive receipts + post-receive Chakra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3492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5 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5312664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5100D"/>
                </a:solidFill>
                <a:latin typeface="Arial"/>
              </a:defRPr>
            </a:pPr>
            <a:r>
              <a:t>6,000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REVIEWER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15100D"/>
                </a:solidFill>
                <a:latin typeface="Arial"/>
              </a:defRPr>
            </a:pPr>
            <a:r>
              <a:t>Acceptance lives in the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5665B"/>
                </a:solidFill>
                <a:latin typeface="Arial"/>
              </a:defRPr>
            </a:pPr>
            <a:r>
              <a:t>Configuration and simulations support the proof; mined execution has its own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5665B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08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WALLETS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One mined SCA swap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Testnet receipt linked to quote/build and Circle authorization; mainnet configuration with a live route.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GAS STATION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A different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Separate Testnet transaction matched to a redacted sponsorship record; bounded policy and failure checks.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CCTP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One linked 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Source burn and Arc receive; then Chakra quote and swap, or a dated no-route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15100D"/>
                </a:solidFill>
                <a:latin typeface="Arial"/>
              </a:defRPr>
            </a:pPr>
            <a:r>
              <a:t>Start with one wallet integrator.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5665B"/>
                </a:solidFill>
                <a:latin typeface="Arial"/>
              </a:defRPr>
            </a:pPr>
            <a:r>
              <a:t>A proposed first-adopter target, followed by a public and reproducible integration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5665B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09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First live swap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Publish a named integrator and its receipt if achieved. Track time to first swap and dated npm downloads.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Observable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Report rate limits, 429s and stated-interval uptime. Publish dated swap count, volume and pair mix.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3063240"/>
            <a:ext cx="3337560" cy="22860"/>
          </a:xfrm>
          <a:prstGeom prst="rect">
            <a:avLst/>
          </a:prstGeom>
          <a:solidFill>
            <a:srgbClr val="E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32918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REVENUE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776472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5100D"/>
                </a:solidFill>
                <a:latin typeface="Arial"/>
              </a:defRPr>
            </a:pPr>
            <a:r>
              <a:t>2 bps on mainnet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457200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5665B"/>
                </a:solidFill>
                <a:latin typeface="Arial"/>
              </a:defRPr>
            </a:pPr>
            <a:r>
              <a:t>Proposed 0.02% fee on successful swaps. 1M USDC routed would yield 200 USDC before costs; current Testnet fee is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FOUNDER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15100D"/>
                </a:solidFill>
                <a:latin typeface="Arial"/>
              </a:defRPr>
            </a:pPr>
            <a:r>
              <a:t>Built by an engineer who 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5665B"/>
                </a:solidFill>
                <a:latin typeface="Arial"/>
              </a:defRPr>
            </a:pPr>
            <a:r>
              <a:t>Kyler Nguyen · technical founder · contract, routing, API and integration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D4C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5665B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5100D"/>
                </a:solidFill>
                <a:latin typeface="Arial"/>
              </a:defRPr>
            </a:pPr>
            <a:r>
              <a:t>Solidity + Rust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41648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75665B"/>
                </a:solidFill>
                <a:latin typeface="Arial"/>
              </a:defRPr>
            </a:pPr>
            <a:r>
              <a:t>Public contributions across Chakra, Kamui, MGK Protocol and Oreka:</a:t>
            </a:r>
          </a:p>
          <a:p>
            <a:pPr>
              <a:spcAft>
                <a:spcPts val="1000"/>
              </a:spcAft>
              <a:defRPr sz="2200" b="0">
                <a:solidFill>
                  <a:srgbClr val="75665B"/>
                </a:solidFill>
                <a:latin typeface="Arial"/>
              </a:defRPr>
            </a:pPr>
            <a:r>
              <a:t>DEX routing, VRF, perpetuals and prediction-market infrastructure.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C7A3A"/>
                </a:solidFill>
                <a:latin typeface="Arial"/>
              </a:defRPr>
            </a:pPr>
            <a:r>
              <a:rPr u="none">
                <a:solidFill>
                  <a:srgbClr val="EC7A3A"/>
                </a:solidFill>
                <a:hlinkClick r:id="rId2"/>
              </a:rPr>
              <a:t>View founder GitHub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40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5100D"/>
                </a:solidFill>
                <a:latin typeface="Arial"/>
              </a:defRPr>
            </a:pPr>
            <a:r>
              <a:t>One engineer. Sequential scope.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C7A3A"/>
                </a:solidFill>
                <a:latin typeface="Arial"/>
              </a:defRPr>
            </a:pPr>
            <a:r>
              <a:t>CHAKRA  /  THE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6F3EE"/>
                </a:solidFill>
                <a:latin typeface="Arial"/>
              </a:defRPr>
            </a:pPr>
            <a:r>
              <a:t>24,000 USDC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8AFA6"/>
                </a:solidFill>
                <a:latin typeface="Arial"/>
              </a:defRPr>
            </a:pPr>
            <a:r>
              <a:t>Bring the existing Chakra route into a verifiable Circle wallet and sponsorship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18504"/>
            <a:ext cx="10881360" cy="9144"/>
          </a:xfrm>
          <a:prstGeom prst="rect">
            <a:avLst/>
          </a:prstGeom>
          <a:solidFill>
            <a:srgbClr val="4A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8AFA6"/>
                </a:solidFill>
                <a:latin typeface="Arial"/>
              </a:defRPr>
            </a:pPr>
            <a:r>
              <a:t>CIRCLE DEVELOPER GRANT  /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C7A3A"/>
                </a:solidFill>
                <a:latin typeface="Arial"/>
              </a:defRPr>
            </a:pPr>
            <a:r>
              <a:t>11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6F3EE"/>
                </a:solidFill>
                <a:latin typeface="Arial"/>
              </a:defRPr>
            </a:pPr>
            <a:r>
              <a:t>800 engineer hours × 30 USDC/hour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B8AFA6"/>
                </a:solidFill>
                <a:latin typeface="Arial"/>
              </a:defRPr>
            </a:pPr>
            <a:r>
              <a:t>20 weeks · four milestones · no separate expense or markup</a:t>
            </a:r>
          </a:p>
          <a:p>
            <a:pPr>
              <a:spcAft>
                <a:spcPts val="1000"/>
              </a:spcAft>
              <a:defRPr sz="2100" b="0">
                <a:solidFill>
                  <a:srgbClr val="B8AFA6"/>
                </a:solidFill>
                <a:latin typeface="Arial"/>
              </a:defRPr>
            </a:pPr>
            <a:r>
              <a:t>Existing router and self-funded mainnet proof excluded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C7A3A"/>
                </a:solidFill>
                <a:latin typeface="Arial"/>
              </a:defRPr>
            </a:pPr>
            <a:r>
              <a:rPr u="none">
                <a:solidFill>
                  <a:srgbClr val="EC7A3A"/>
                </a:solidFill>
                <a:hlinkClick r:id="rId2"/>
              </a:rPr>
              <a:t>Watch demo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56235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C7A3A"/>
                </a:solidFill>
                <a:latin typeface="Arial"/>
              </a:defRPr>
            </a:pPr>
            <a:r>
              <a:rPr u="none">
                <a:solidFill>
                  <a:srgbClr val="EC7A3A"/>
                </a:solidFill>
                <a:hlinkClick r:id="rId3"/>
              </a:rPr>
              <a:t>Explore product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56235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C7A3A"/>
                </a:solidFill>
                <a:latin typeface="Arial"/>
              </a:defRPr>
            </a:pPr>
            <a:r>
              <a:rPr u="none">
                <a:solidFill>
                  <a:srgbClr val="EC7A3A"/>
                </a:solidFill>
                <a:hlinkClick r:id="rId4"/>
              </a:rPr>
              <a:t>Inspect source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C7A3A"/>
      </a:hlink>
      <a:folHlink>
        <a:srgbClr val="EC7A3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C7A3A"/>
      </a:hlink>
      <a:folHlink>
        <a:srgbClr val="EC7A3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Chakra — Circle Developer Grant</dc:title>
  <dc:subject>24,000 USDC / four milestones / Arc stablecoin FX</dc:subject>
  <dc:creator>Kyler Nguyen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